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AI Adoption Level Distribution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48-4708-B63C-1951E035E3A9}"/>
              </c:ext>
            </c:extLst>
          </c:dPt>
          <c:dPt>
            <c:idx val="1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48-4708-B63C-1951E035E3A9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48-4708-B63C-1951E035E3A9}"/>
              </c:ext>
            </c:extLst>
          </c:dPt>
          <c:dPt>
            <c:idx val="3"/>
            <c:invertIfNegative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48-4708-B63C-1951E035E3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AI</c:v>
                </c:pt>
                <c:pt idx="1">
                  <c:v>Low Adoption
(&lt;25%)</c:v>
                </c:pt>
                <c:pt idx="2">
                  <c:v>Moderate
(25–75%)</c:v>
                </c:pt>
                <c:pt idx="3">
                  <c:v>High Adoption
(&gt;75%)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8.3000000000000007</c:v>
                </c:pt>
                <c:pt idx="1">
                  <c:v>25</c:v>
                </c:pt>
                <c:pt idx="2">
                  <c:v>41.7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48-4708-B63C-1951E035E3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0000"/>
                </a:solidFill>
                <a:latin typeface="Arial"/>
              </a:rPr>
              <a:t>Mean Score (1–5) by AI Adoption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CSAT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AI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2.81</c:v>
                </c:pt>
                <c:pt idx="1">
                  <c:v>3.23</c:v>
                </c:pt>
                <c:pt idx="2">
                  <c:v>3.82</c:v>
                </c:pt>
                <c:pt idx="3">
                  <c:v>4.3099999999999996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4E-4A4C-B645-7E0504077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FCR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AI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2.64</c:v>
                </c:pt>
                <c:pt idx="1">
                  <c:v>3.08</c:v>
                </c:pt>
                <c:pt idx="2">
                  <c:v>3.69</c:v>
                </c:pt>
                <c:pt idx="3">
                  <c:v>4.18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4E-4A4C-B645-7E05040774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AHT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AI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2.5299999999999998</c:v>
                </c:pt>
                <c:pt idx="1">
                  <c:v>3.01</c:v>
                </c:pt>
                <c:pt idx="2">
                  <c:v>3.91</c:v>
                </c:pt>
                <c:pt idx="3">
                  <c:v>4.42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4E-4A4C-B645-7E050407746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 AI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2.72</c:v>
                </c:pt>
                <c:pt idx="1">
                  <c:v>3.14</c:v>
                </c:pt>
                <c:pt idx="2">
                  <c:v>3.74</c:v>
                </c:pt>
                <c:pt idx="3">
                  <c:v>4.24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4E-4A4C-B645-7E0504077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000000"/>
                </a:solidFill>
                <a:latin typeface="Arial"/>
              </a:rPr>
              <a:t>Ideal AI-Human Balance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37-44D0-A19B-6391771F09F0}"/>
              </c:ext>
            </c:extLst>
          </c:dPt>
          <c:dPt>
            <c:idx val="1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37-44D0-A19B-6391771F09F0}"/>
              </c:ext>
            </c:extLst>
          </c:dPt>
          <c:dPt>
            <c:idx val="2"/>
            <c:bubble3D val="0"/>
            <c:spPr>
              <a:solidFill>
                <a:srgbClr val="9DC3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37-44D0-A19B-6391771F09F0}"/>
              </c:ext>
            </c:extLst>
          </c:dPt>
          <c:dPt>
            <c:idx val="3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B37-44D0-A19B-6391771F09F0}"/>
              </c:ext>
            </c:extLst>
          </c:dPt>
          <c:dPt>
            <c:idx val="4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B37-44D0-A19B-6391771F09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37-44D0-A19B-6391771F09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37-44D0-A19B-6391771F09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37-44D0-A19B-6391771F09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37-44D0-A19B-6391771F09F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B37-44D0-A19B-6391771F09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Mostly AI + Human</c:v>
                </c:pt>
                <c:pt idx="1">
                  <c:v>Equal Split</c:v>
                </c:pt>
                <c:pt idx="2">
                  <c:v>Mostly Human</c:v>
                </c:pt>
                <c:pt idx="3">
                  <c:v>Full Auto</c:v>
                </c:pt>
                <c:pt idx="4">
                  <c:v>Fully Human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51.7</c:v>
                </c:pt>
                <c:pt idx="1">
                  <c:v>25.8</c:v>
                </c:pt>
                <c:pt idx="2">
                  <c:v>14.2</c:v>
                </c:pt>
                <c:pt idx="3">
                  <c:v>5.8</c:v>
                </c:pt>
                <c:pt idx="4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B37-44D0-A19B-6391771F09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1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109728" cy="36576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58368" y="7772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14300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Impact of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for Tech Companies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8368" y="3310128"/>
            <a:ext cx="5029200" cy="1828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 A Menon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No: O24MCA110197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Vikas Kumar Atray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 Online  |  MCA  |  2024–2026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74904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transforming customer service at scale — chatbots, NLP assistants, generative AI, and sentiment analysis are replacing traditional helpdesks worldwide.
</a:t>
            </a: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AI market is growing at 25–35% annually.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Indians use Generative AI — highest globally (Salesforce, 2024).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CS market: USD 13B (2024) → USD 83B (2033).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069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53312"/>
            <a:ext cx="914400" cy="4114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heavy investment, barely 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organisations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successfully integrated AI into customer service.
Customers report chatbots that fail to understand them and make reaching a human agent nearly impossible.
</a:t>
            </a: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does AI genuinely improve customer service outcomes — and what separates successful implementations from failed ones?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124712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16128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11247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AI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3813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AI tools are used in tech company customer service and measure adoption depth across the sector.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73752" y="1124712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73752" y="116128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58968" y="11247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Benefits &amp; Challenges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618488"/>
            <a:ext cx="3813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both sides honestly — the measurable advantages and the real implementation difficulties organizations face.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1148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" y="2953512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" y="299008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9848" y="29535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447288"/>
            <a:ext cx="3813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effect of AI adoption on CSAT, FCR Rate, Average Handling Time (AHT), and NPS using structured survey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148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73752" y="2953512"/>
            <a:ext cx="502920" cy="5029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73752" y="299008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58968" y="2953512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Recommendations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447288"/>
            <a:ext cx="3813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6 specific, actionable recommendations for tech companies seeking to improve AI customer service.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926080" cy="352044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Parallel Design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→ Statistical analysis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responses → Thematic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914400"/>
            <a:ext cx="2377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Design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444752"/>
            <a:ext cx="2103120" cy="402336"/>
          </a:xfrm>
          <a:prstGeom prst="rect">
            <a:avLst/>
          </a:prstGeom>
          <a:solidFill>
            <a:srgbClr val="EBF3FB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84448" y="14721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47218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84448" y="19476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94767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respondents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2395728"/>
            <a:ext cx="2103120" cy="402336"/>
          </a:xfrm>
          <a:prstGeom prst="rect">
            <a:avLst/>
          </a:prstGeom>
          <a:solidFill>
            <a:srgbClr val="EBF3FB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84448" y="2423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Prof. + 60 Cust.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871216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584448" y="28986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28986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(40 questions)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3346704"/>
            <a:ext cx="2103120" cy="402336"/>
          </a:xfrm>
          <a:prstGeom prst="rect">
            <a:avLst/>
          </a:prstGeom>
          <a:solidFill>
            <a:srgbClr val="EBF3FB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584448" y="33741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3741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1–5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3822192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584448" y="38496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384962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minutes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914400"/>
            <a:ext cx="28346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26480" y="987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Tools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44768" y="1353312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91072" y="13167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44768" y="1645920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91072" y="160934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 (reliability)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4768" y="1938528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291072" y="190195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&amp; Levene's Tests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44768" y="223113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91072" y="21945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Analysis (5 themes)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89320" y="2697480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26480" y="2770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Stack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44768" y="314553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91072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pandas  |  scipy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44768" y="346557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291072" y="342900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|  seaborn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44768" y="378561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91072" y="374904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pingouin  |  Jupyter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44768" y="4105656"/>
            <a:ext cx="91440" cy="9144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91072" y="40690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 |  MS Excel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Landscape — Survey Findings (n=120)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192024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at Moderate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High AI Adoption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96312" y="914400"/>
            <a:ext cx="192024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96312" y="987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96312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NLP-based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45152" y="914400"/>
            <a:ext cx="192024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45152" y="987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45152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93992" y="914400"/>
            <a:ext cx="1920240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93992" y="9875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93992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at Low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Adoption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47472" y="2148840"/>
          <a:ext cx="512064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2148840"/>
            <a:ext cx="312724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06440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in Use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06440" y="262432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Virtual Assistant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333488" y="2688336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333488" y="2688336"/>
            <a:ext cx="567239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8266176" y="266090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63.3%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06440" y="297180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Ticketing System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33488" y="3035808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7333488" y="3035808"/>
            <a:ext cx="508096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8266176" y="300837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06440" y="331927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333488" y="3383280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7333488" y="3383280"/>
            <a:ext cx="463290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266176" y="33558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806440" y="366674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333488" y="3730752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7333488" y="3730752"/>
            <a:ext cx="328873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8266176" y="370332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06440" y="401421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333488" y="4078224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7333488" y="4078224"/>
            <a:ext cx="284068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266176" y="405079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06440" y="436168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333488" y="4425696"/>
            <a:ext cx="896112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7333488" y="4425696"/>
            <a:ext cx="208794" cy="1645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8266176" y="439826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Findings — AI Adoption vs. Outcomes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68880" y="96926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13898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93392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96926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0.761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13898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969264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0.729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13898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9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0040" y="1938528"/>
          <a:ext cx="56692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172200" y="1938528"/>
            <a:ext cx="2606040" cy="2834640"/>
          </a:xfrm>
          <a:prstGeom prst="rect">
            <a:avLst/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91072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91072" y="2395728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improvement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CSAT from No AI to High AI adoption.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improvement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perceived response speed (AHT).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correlations exceed r = 0.71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are significant at p &lt; 0.001.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vs. Challenges — Respondent Findings (n=120)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Top Benefits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3856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 times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3856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 — no waiting for business hours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waiting time vs. phone helplines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answers to standard queries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6027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" y="3602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than calling a helpline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114800"/>
            <a:ext cx="658368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4133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responses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914400"/>
            <a:ext cx="4160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Top Challenges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463040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14813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77256" y="1481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did not understand complex queries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993392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201168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77256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reach a human agent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523744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25420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77256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felt cold and impersonal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054096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0723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77256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or irrelevant answers given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54880" y="36027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77256" y="3602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required multiple contacts to resolve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4114800"/>
            <a:ext cx="658368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54880" y="4133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77256" y="4133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broke down mid-interaction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Themes &amp; Customer Preference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" y="1042416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48056" y="106984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0698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Contextual Understanding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6344" y="153619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cited frustration (67.5%). AI handles keywords but misses intent — a training data problem.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92424" y="1042416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2424" y="106984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0698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Escalate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0712" y="153619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61.7% struggled to reach a human. Customers trapped in loops — a design choice, not a technology limit.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36792" y="1042416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36792" y="106984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0568" y="106984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Routine Experience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1536192"/>
            <a:ext cx="24871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resets, order tracking, FAQs — customers actively prefer AI here. Fast and frictionless.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1635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8056" y="294436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8056" y="29718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29718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 Concerns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" y="3438144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worries. India's DPDP Act 2023 makes this a compliance issue, not just an ethical one.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2816352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92424" y="2944368"/>
            <a:ext cx="420624" cy="420624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92424" y="297180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29718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for Hybrid Models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0712" y="3438144"/>
            <a:ext cx="24414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 want Mostly AI + human escalation. The keyword across all open responses: 'seamless'.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6144768" y="2816352"/>
          <a:ext cx="2743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Recommendations for Tech Companies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2724912" cy="16276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20624" y="1042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" y="14447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Human Escalation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18288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'Talk to a human' option at every AI interaction stage. Full context transfer — no repeating.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18688" y="91440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46704" y="1042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46704" y="14447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on Routine Queries First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46704" y="18288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automation on top-volume routine categories. Pause where intent recognition falls below 85%.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44768" y="91440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72784" y="1042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14447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NLP Training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72784" y="18288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pipeline: feed resolved tickets back into AI training. Include regional language constructions.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74320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0624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" y="3273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DPDP Compliance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36576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use upfront. Conduct DPDP Act 2023 compliance review. Appoint AI data steward.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274320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46704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46704" y="3273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From Customer's Perspective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46704" y="36576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Post-interaction CSAT survey after every AI chat. Track separately from human-agent metrics.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4768" y="2743200"/>
            <a:ext cx="272491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72784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72784" y="32735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to Work With AI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72784" y="365760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literacy programme for all CS staff. Quarterly updates aligned with system changes.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2E75B6">
              <a:alpha val="16000"/>
            </a:srgbClr>
          </a:solidFill>
          <a:ln w="12700">
            <a:solidFill>
              <a:srgbClr val="2E75B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2E75B6">
              <a:alpha val="12000"/>
            </a:srgbClr>
          </a:solidFill>
          <a:ln w="12700">
            <a:solidFill>
              <a:srgbClr val="2E75B6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94944"/>
            <a:ext cx="1280160" cy="502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5029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91440" cy="10515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9326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correlations &gt; 0.71 at p &lt; 0.001 confirm AI significantly improves CSAT, FCR, AHT &amp; NPS.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039112"/>
            <a:ext cx="5029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2039112"/>
            <a:ext cx="91440" cy="10515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Without Nuance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excels at routine queries. Complex issues still need humans. Query nature matters.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3209544"/>
            <a:ext cx="50292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" y="3209544"/>
            <a:ext cx="91440" cy="10515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Direction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21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not anti-AI. They want it implemented intelligently — with seamless human backup.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868680"/>
            <a:ext cx="3200400" cy="3163824"/>
          </a:xfrm>
          <a:prstGeom prst="rect">
            <a:avLst/>
          </a:prstGeom>
          <a:solidFill>
            <a:srgbClr val="1A3A5C"/>
          </a:solidFill>
          <a:ln w="12700">
            <a:solidFill>
              <a:srgbClr val="9DC3E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76072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79008" y="1444752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0" y="1408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 tracking AI maturity over 3–5 years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79008" y="1792224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0" y="17556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performance study (Hindi/Hinglish)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79008" y="2139696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0" y="2103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vs. NLP comparison study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79008" y="2487168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Cross-industry expansion (BFSI, Healthcare)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79008" y="2834640"/>
            <a:ext cx="91440" cy="914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43600" y="27980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primary data collection (n ≥ 300)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160520"/>
            <a:ext cx="8476488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472" y="42245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472" y="422452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Anush A Menon  |  O24MCA110197  |  MCA  |  Chandigarh University Online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1032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the Impact of AI in Customer Service for Tech Companies</dc:title>
  <dc:subject>PptxGenJS Presentation</dc:subject>
  <dc:creator>Anush A Menon</dc:creator>
  <cp:lastModifiedBy>Anush .</cp:lastModifiedBy>
  <cp:revision>2</cp:revision>
  <dcterms:created xsi:type="dcterms:W3CDTF">2026-05-23T05:21:16Z</dcterms:created>
  <dcterms:modified xsi:type="dcterms:W3CDTF">2026-05-23T11:46:36Z</dcterms:modified>
</cp:coreProperties>
</file>